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  <p:sldId id="265" r:id="rId9"/>
    <p:sldId id="267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49377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200" b="1">
                <a:solidFill>
                  <a:srgbClr val="005E68"/>
                </a:solidFill>
                <a:latin typeface="Aptos"/>
              </a:defRPr>
            </a:pPr>
            <a:r>
              <a:t>WORLD WATER DAY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5715000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200" b="1">
                <a:solidFill>
                  <a:srgbClr val="004C3E"/>
                </a:solidFill>
                <a:latin typeface="Aptos"/>
              </a:defRPr>
            </a:pPr>
            <a:r>
              <a:rPr dirty="0"/>
              <a:t>Clean Rivers,</a:t>
            </a:r>
            <a:br>
              <a:rPr dirty="0"/>
            </a:br>
            <a:r>
              <a:rPr dirty="0"/>
              <a:t>Sustainable Livelihoods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761488"/>
            <a:ext cx="530352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0">
                <a:solidFill>
                  <a:srgbClr val="0074AA"/>
                </a:solidFill>
                <a:latin typeface="Aptos"/>
              </a:defRPr>
            </a:pPr>
            <a:r>
              <a:t>Water • Science • Sustainable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456432"/>
            <a:ext cx="53035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0">
                <a:solidFill>
                  <a:srgbClr val="547074"/>
                </a:solidFill>
                <a:latin typeface="Aptos"/>
              </a:defRPr>
            </a:pPr>
            <a:r>
              <a:t>KNUST  |  Mathematical and Computational Physics</a:t>
            </a:r>
          </a:p>
        </p:txBody>
      </p:sp>
      <p:sp>
        <p:nvSpPr>
          <p:cNvPr id="6" name="Oval 5"/>
          <p:cNvSpPr/>
          <p:nvPr/>
        </p:nvSpPr>
        <p:spPr>
          <a:xfrm>
            <a:off x="6537960" y="685800"/>
            <a:ext cx="4251960" cy="4251960"/>
          </a:xfrm>
          <a:prstGeom prst="ellipse">
            <a:avLst/>
          </a:prstGeom>
          <a:solidFill>
            <a:srgbClr val="B1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86600" y="1234440"/>
            <a:ext cx="3154680" cy="3154680"/>
          </a:xfrm>
          <a:prstGeom prst="ellipse">
            <a:avLst/>
          </a:prstGeom>
          <a:solidFill>
            <a:srgbClr val="00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818120" y="1965960"/>
            <a:ext cx="1691640" cy="1691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5074920"/>
            <a:ext cx="45720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004C3E"/>
                </a:solidFill>
                <a:latin typeface="Aptos"/>
              </a:defRPr>
            </a:pPr>
            <a:r>
              <a:t>CLEAN RIVERS  •  SUSTAINABLE FUTURES</a:t>
            </a:r>
          </a:p>
        </p:txBody>
      </p:sp>
      <p:sp>
        <p:nvSpPr>
          <p:cNvPr id="10" name="Wave 9"/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ave 10"/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Wave 11"/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0169C7-7D07-3343-441B-EC36E64E0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02920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000" b="1">
                <a:solidFill>
                  <a:srgbClr val="005E68"/>
                </a:solidFill>
                <a:latin typeface="Aptos"/>
              </a:defRPr>
            </a:pPr>
            <a:r>
              <a:rPr dirty="0"/>
              <a:t>WORLD </a:t>
            </a:r>
            <a:r>
              <a:rPr lang="en-US" dirty="0"/>
              <a:t>RIVERS </a:t>
            </a:r>
            <a:r>
              <a:rPr dirty="0"/>
              <a:t>DAY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777240" cy="41148"/>
          </a:xfrm>
          <a:prstGeom prst="rect">
            <a:avLst/>
          </a:prstGeom>
          <a:solidFill>
            <a:srgbClr val="00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Wave 3"/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45705" y="314762"/>
            <a:ext cx="10789920" cy="49859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000" b="1">
                <a:solidFill>
                  <a:srgbClr val="004C3E"/>
                </a:solidFill>
                <a:latin typeface="Aptos"/>
              </a:defRPr>
            </a:pPr>
            <a:r>
              <a:rPr lang="en-US" dirty="0"/>
              <a:t>CAN A NET CATCH EVERYTHING?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10771632" cy="3611880"/>
          </a:xfrm>
          <a:prstGeom prst="roundRect">
            <a:avLst/>
          </a:prstGeom>
          <a:solidFill>
            <a:srgbClr val="E1F3FA"/>
          </a:solidFill>
          <a:ln>
            <a:solidFill>
              <a:srgbClr val="C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r>
              <a:rPr lang="en-US" sz="1700">
                <a:solidFill>
                  <a:srgbClr val="547074"/>
                </a:solidFill>
                <a:latin typeface="Aptos"/>
              </a:rPr>
              <a:t>also put a title for slide 4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8A534E-4311-53AF-A760-F8C37F11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4" y="835514"/>
            <a:ext cx="12157256" cy="55972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02920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005E68"/>
                </a:solidFill>
                <a:latin typeface="Aptos"/>
              </a:defRPr>
            </a:pPr>
            <a:r>
              <a:rPr lang="en-US" dirty="0"/>
              <a:t>WORLD RIVERS DAY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777240" cy="41148"/>
          </a:xfrm>
          <a:prstGeom prst="rect">
            <a:avLst/>
          </a:prstGeom>
          <a:solidFill>
            <a:srgbClr val="00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Wave 3"/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107899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000" b="1">
                <a:solidFill>
                  <a:srgbClr val="004C3E"/>
                </a:solidFill>
                <a:latin typeface="Aptos"/>
              </a:defRPr>
            </a:pPr>
            <a:r>
              <a:t>Three Key Points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331720"/>
            <a:ext cx="713232" cy="713232"/>
          </a:xfrm>
          <a:prstGeom prst="ellipse">
            <a:avLst/>
          </a:prstGeom>
          <a:solidFill>
            <a:srgbClr val="00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32888"/>
            <a:ext cx="71323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246120"/>
            <a:ext cx="3154680" cy="2148840"/>
          </a:xfrm>
          <a:prstGeom prst="roundRect">
            <a:avLst/>
          </a:prstGeom>
          <a:solidFill>
            <a:srgbClr val="E1F3FA"/>
          </a:solidFill>
          <a:ln>
            <a:solidFill>
              <a:srgbClr val="C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r>
              <a:rPr lang="en-US" dirty="0"/>
              <a:t>A NET HAS WHAT IT CATCHES</a:t>
            </a:r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4553712" y="2331720"/>
            <a:ext cx="713232" cy="713232"/>
          </a:xfrm>
          <a:prstGeom prst="ellips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532888"/>
            <a:ext cx="71323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3246120"/>
            <a:ext cx="3154680" cy="2148840"/>
          </a:xfrm>
          <a:prstGeom prst="roundRect">
            <a:avLst/>
          </a:prstGeom>
          <a:solidFill>
            <a:srgbClr val="E1F3FA"/>
          </a:solidFill>
          <a:ln>
            <a:solidFill>
              <a:srgbClr val="C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r>
              <a:rPr lang="en-US" dirty="0"/>
              <a:t>A SMALLER FISH CAN PASS THROUGH</a:t>
            </a:r>
          </a:p>
        </p:txBody>
      </p:sp>
      <p:sp>
        <p:nvSpPr>
          <p:cNvPr id="15" name="Oval 14"/>
          <p:cNvSpPr/>
          <p:nvPr/>
        </p:nvSpPr>
        <p:spPr>
          <a:xfrm>
            <a:off x="8238744" y="2331720"/>
            <a:ext cx="713232" cy="713232"/>
          </a:xfrm>
          <a:prstGeom prst="ellips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38744" y="2532888"/>
            <a:ext cx="713232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3246120"/>
            <a:ext cx="3154680" cy="2148840"/>
          </a:xfrm>
          <a:prstGeom prst="roundRect">
            <a:avLst/>
          </a:prstGeom>
          <a:solidFill>
            <a:srgbClr val="E1F3FA"/>
          </a:solidFill>
          <a:ln>
            <a:solidFill>
              <a:srgbClr val="C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r>
              <a:rPr lang="en-US" dirty="0"/>
              <a:t>THIS IS WHAT TRADITIONAL FILTER USING SAND, GRAVEL, ACTIVATED CHARCOAL DOES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493776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005E68"/>
                </a:solidFill>
                <a:latin typeface="Aptos"/>
              </a:defRPr>
            </a:pPr>
            <a:r>
              <a:rPr lang="en-US" dirty="0"/>
              <a:t>WORLD RIVERS DAY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058400" cy="59093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600" b="1">
                <a:solidFill>
                  <a:srgbClr val="004C3E"/>
                </a:solidFill>
                <a:latin typeface="Aptos"/>
              </a:defRPr>
            </a:pPr>
            <a:r>
              <a:rPr lang="en-US" dirty="0"/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26080"/>
            <a:ext cx="91440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800" b="0">
                <a:solidFill>
                  <a:srgbClr val="547074"/>
                </a:solidFill>
                <a:latin typeface="Aptos"/>
              </a:defRPr>
            </a:pPr>
            <a:r>
              <a:rPr lang="en-US" dirty="0"/>
              <a:t>A short subtitle or guiding question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8869680" y="960120"/>
            <a:ext cx="1645920" cy="1645920"/>
          </a:xfrm>
          <a:prstGeom prst="ellipse">
            <a:avLst/>
          </a:prstGeom>
          <a:solidFill>
            <a:srgbClr val="B1E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46920" y="1828800"/>
            <a:ext cx="1371600" cy="1371600"/>
          </a:xfrm>
          <a:prstGeom prst="ellipse">
            <a:avLst/>
          </a:prstGeom>
          <a:solidFill>
            <a:srgbClr val="50B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87000" y="1005840"/>
            <a:ext cx="777240" cy="777240"/>
          </a:xfrm>
          <a:prstGeom prst="ellips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ave 7"/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Wave 8"/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Wave 9"/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water_mystery_filtering_cleaned_v3">
            <a:hlinkClick r:id="" action="ppaction://media"/>
            <a:extLst>
              <a:ext uri="{FF2B5EF4-FFF2-40B4-BE49-F238E27FC236}">
                <a16:creationId xmlns:a16="http://schemas.microsoft.com/office/drawing/2014/main" id="{344BA064-5FD9-6789-9B94-7BCC1F9CBE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649431"/>
            <a:ext cx="12192000" cy="5824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02920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005E68"/>
                </a:solidFill>
                <a:latin typeface="Aptos"/>
              </a:defRPr>
            </a:pPr>
            <a:r>
              <a:rPr lang="en-US" dirty="0"/>
              <a:t>WORLD RIVERS DAY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777240" cy="41148"/>
          </a:xfrm>
          <a:prstGeom prst="rect">
            <a:avLst/>
          </a:prstGeom>
          <a:solidFill>
            <a:srgbClr val="00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Wave 3"/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35213" y="896112"/>
            <a:ext cx="10789920" cy="49859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000" b="1">
                <a:solidFill>
                  <a:srgbClr val="004C3E"/>
                </a:solidFill>
                <a:latin typeface="Aptos"/>
              </a:defRPr>
            </a:pPr>
            <a:r>
              <a:rPr lang="en-US" dirty="0"/>
              <a:t>DISSOLVED CONTAMINANTS ARE MISSED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500" b="0">
                <a:solidFill>
                  <a:srgbClr val="547074"/>
                </a:solidFill>
                <a:latin typeface="Aptos"/>
              </a:defRPr>
            </a:pPr>
            <a:r>
              <a:t>For comparisons, paired explanations, or text alongside a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49377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0074AA"/>
                </a:solidFill>
                <a:latin typeface="Aptos"/>
              </a:defRPr>
            </a:pPr>
            <a:r>
              <a:t>LEFT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2148840"/>
            <a:ext cx="49377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0074AA"/>
                </a:solidFill>
                <a:latin typeface="Aptos"/>
              </a:defRPr>
            </a:pPr>
            <a:r>
              <a:t>RIGHT COLUMN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42032"/>
            <a:ext cx="5120640" cy="2971800"/>
          </a:xfrm>
          <a:prstGeom prst="roundRect">
            <a:avLst/>
          </a:prstGeom>
          <a:solidFill>
            <a:srgbClr val="E1F3FA"/>
          </a:solidFill>
          <a:ln>
            <a:solidFill>
              <a:srgbClr val="C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r>
              <a:t>Add text, image, chart, or diagram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42032"/>
            <a:ext cx="5120640" cy="2971800"/>
          </a:xfrm>
          <a:prstGeom prst="roundRect">
            <a:avLst/>
          </a:prstGeom>
          <a:solidFill>
            <a:srgbClr val="E1F3FA"/>
          </a:solidFill>
          <a:ln>
            <a:solidFill>
              <a:srgbClr val="C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r>
              <a:t>Add text, image, chart, or diagram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69199F-BCEC-8997-F691-162DBB4E5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29318"/>
              </p:ext>
            </p:extLst>
          </p:nvPr>
        </p:nvGraphicFramePr>
        <p:xfrm>
          <a:off x="1" y="1344168"/>
          <a:ext cx="12191695" cy="5010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620">
                  <a:extLst>
                    <a:ext uri="{9D8B030D-6E8A-4147-A177-3AD203B41FA5}">
                      <a16:colId xmlns:a16="http://schemas.microsoft.com/office/drawing/2014/main" val="4100655062"/>
                    </a:ext>
                  </a:extLst>
                </a:gridCol>
                <a:gridCol w="2448025">
                  <a:extLst>
                    <a:ext uri="{9D8B030D-6E8A-4147-A177-3AD203B41FA5}">
                      <a16:colId xmlns:a16="http://schemas.microsoft.com/office/drawing/2014/main" val="4123959115"/>
                    </a:ext>
                  </a:extLst>
                </a:gridCol>
                <a:gridCol w="2461350">
                  <a:extLst>
                    <a:ext uri="{9D8B030D-6E8A-4147-A177-3AD203B41FA5}">
                      <a16:colId xmlns:a16="http://schemas.microsoft.com/office/drawing/2014/main" val="3168121803"/>
                    </a:ext>
                  </a:extLst>
                </a:gridCol>
                <a:gridCol w="2461350">
                  <a:extLst>
                    <a:ext uri="{9D8B030D-6E8A-4147-A177-3AD203B41FA5}">
                      <a16:colId xmlns:a16="http://schemas.microsoft.com/office/drawing/2014/main" val="2226888950"/>
                    </a:ext>
                  </a:extLst>
                </a:gridCol>
                <a:gridCol w="2461350">
                  <a:extLst>
                    <a:ext uri="{9D8B030D-6E8A-4147-A177-3AD203B41FA5}">
                      <a16:colId xmlns:a16="http://schemas.microsoft.com/office/drawing/2014/main" val="440503288"/>
                    </a:ext>
                  </a:extLst>
                </a:gridCol>
              </a:tblGrid>
              <a:tr h="763624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Scale / Size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Traditional Filter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Mechanism / Solution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158551"/>
                  </a:ext>
                </a:extLst>
              </a:tr>
              <a:tr h="850879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Macroscopic Debris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(Leaves, twigs, gravel)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mm 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(1,000,000 nm)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Gravel &amp; Coarse Sand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TRAPPED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✅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hysical straining between gravel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775614"/>
                  </a:ext>
                </a:extLst>
              </a:tr>
              <a:tr h="960951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Fine Mud &amp; Silt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0–100 µm </a:t>
                      </a:r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(10,000–100,000 nm)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Fine Sand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TRAPPED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 in tight gaps between sand grains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911952"/>
                  </a:ext>
                </a:extLst>
              </a:tr>
              <a:tr h="940642">
                <a:tc>
                  <a:txBody>
                    <a:bodyPr/>
                    <a:lstStyle/>
                    <a:p>
                      <a:r>
                        <a:rPr lang="en-US" b="1" dirty="0"/>
                        <a:t>Dissolved Heavy Metals</a:t>
                      </a:r>
                      <a:r>
                        <a:rPr lang="en-US" dirty="0"/>
                        <a:t> (Pb2+, Hg2+)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0.1–0.5 nm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Sand, Gravel, Charcoal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MISSED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8192D"/>
                          </a:solidFill>
                          <a:latin typeface="Aptos"/>
                        </a:defRPr>
                      </a:pPr>
                      <a:r>
                        <a:rPr lang="en-US" sz="1800" dirty="0"/>
                        <a:t>Capture needs suitable sorbent chemistry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369927"/>
                  </a:ext>
                </a:extLst>
              </a:tr>
              <a:tr h="1494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Dissolved Salts</a:t>
                      </a:r>
                      <a:r>
                        <a:rPr lang="en-US" dirty="0"/>
                        <a:t> (Na+, Cl-)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0.3–0.4 nm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Sand, Gravel, Charcoal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MISSED</a:t>
                      </a:r>
                      <a:r>
                        <a:rPr lang="en-US"/>
                        <a:t> 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8192D"/>
                          </a:solidFill>
                          <a:latin typeface="Aptos"/>
                        </a:defRPr>
                      </a:pPr>
                      <a:r>
                        <a:rPr lang="en-US" sz="1800" dirty="0"/>
                        <a:t>Capture needs suitable sorbent chemistry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39948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502920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005E68"/>
                </a:solidFill>
                <a:latin typeface="Aptos"/>
              </a:defRPr>
            </a:pPr>
            <a:r>
              <a:rPr lang="en-US" dirty="0"/>
              <a:t>WORLD RIVERS DAY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777240" cy="41148"/>
          </a:xfrm>
          <a:prstGeom prst="rect">
            <a:avLst/>
          </a:prstGeom>
          <a:solidFill>
            <a:srgbClr val="007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Wave 3"/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Wave 4"/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896112"/>
            <a:ext cx="10789920" cy="49859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3000" b="1">
                <a:solidFill>
                  <a:srgbClr val="004C3E"/>
                </a:solidFill>
                <a:latin typeface="Aptos"/>
              </a:defRPr>
            </a:pPr>
            <a:r>
              <a:rPr lang="en-US" dirty="0"/>
              <a:t>CLEAR WATER IS NOT PURE WATER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49808" y="2240280"/>
            <a:ext cx="6629400" cy="3474720"/>
          </a:xfrm>
          <a:prstGeom prst="roundRect">
            <a:avLst/>
          </a:prstGeom>
          <a:solidFill>
            <a:srgbClr val="E1F3FA"/>
          </a:solidFill>
          <a:ln>
            <a:solidFill>
              <a:srgbClr val="C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  <a:defRPr sz="1700">
                <a:solidFill>
                  <a:srgbClr val="547074"/>
                </a:solidFill>
                <a:latin typeface="Aptos"/>
              </a:defRPr>
            </a:pPr>
            <a:r>
              <a:rPr lang="en-US" sz="2000" dirty="0"/>
              <a:t>Contaminants like mercury ions pollute at the atomic level, dissolving in the water</a:t>
            </a:r>
          </a:p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endParaRPr lang="en-US" sz="2000" dirty="0"/>
          </a:p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endParaRPr lang="en-US" sz="2000" dirty="0"/>
          </a:p>
          <a:p>
            <a:pPr marL="285750" indent="-285750" algn="ctr">
              <a:buFont typeface="Arial" panose="020B0604020202020204" pitchFamily="34" charset="0"/>
              <a:buChar char="•"/>
              <a:defRPr sz="1700">
                <a:solidFill>
                  <a:srgbClr val="547074"/>
                </a:solidFill>
                <a:latin typeface="Aptos"/>
              </a:defRPr>
            </a:pPr>
            <a:r>
              <a:rPr lang="en-US" sz="2000" dirty="0"/>
              <a:t>These filters are blind to it so even the water may look clean after filtering.</a:t>
            </a:r>
          </a:p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endParaRPr lang="en-US" sz="2000" dirty="0"/>
          </a:p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endParaRPr lang="en-US" sz="2000" dirty="0"/>
          </a:p>
          <a:p>
            <a:pPr marL="285750" indent="-285750" algn="ctr">
              <a:buFont typeface="Arial" panose="020B0604020202020204" pitchFamily="34" charset="0"/>
              <a:buChar char="•"/>
              <a:defRPr sz="1700">
                <a:solidFill>
                  <a:srgbClr val="547074"/>
                </a:solidFill>
                <a:latin typeface="Aptos"/>
              </a:defRPr>
            </a:pPr>
            <a:r>
              <a:rPr lang="en-US" sz="2000" dirty="0"/>
              <a:t>Water purification materials need to be engineered at the quantum scale</a:t>
            </a:r>
          </a:p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7635240" y="2240280"/>
            <a:ext cx="3749039" cy="3474720"/>
          </a:xfrm>
          <a:prstGeom prst="roundRect">
            <a:avLst/>
          </a:prstGeom>
          <a:solidFill>
            <a:srgbClr val="E1F3FA"/>
          </a:solidFill>
          <a:ln>
            <a:solidFill>
              <a:srgbClr val="C3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>
                <a:solidFill>
                  <a:srgbClr val="547074"/>
                </a:solidFill>
                <a:latin typeface="Aptos"/>
              </a:defRPr>
            </a:pPr>
            <a:r>
              <a:t>Key observation / explanation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526A5429-2F1C-CBCC-826F-DB2A8846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260" y="0"/>
            <a:ext cx="4774736" cy="6245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493776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005E68"/>
                </a:solidFill>
                <a:latin typeface="Aptos"/>
              </a:defRPr>
            </a:pPr>
            <a:r>
              <a:rPr lang="en-US" dirty="0"/>
              <a:t>WORLD RIVERS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622" y="865980"/>
            <a:ext cx="8503920" cy="30839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our research at the MCP, we use materials like metal organic frameworks (MOF) for water purification.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These are very tiny nets/cubes with metal vertices and edges made of organic materials called linker.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Inside these cages, we anchor sulfur-containing sites..</a:t>
            </a:r>
            <a:endParaRPr sz="2400" dirty="0"/>
          </a:p>
        </p:txBody>
      </p:sp>
      <p:sp>
        <p:nvSpPr>
          <p:cNvPr id="5" name="Wave 4"/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/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3E554-043A-BFEB-DEFA-69E4A481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5F84B7-4499-5F5C-CFD4-AB4F9571DDE0}"/>
              </a:ext>
            </a:extLst>
          </p:cNvPr>
          <p:cNvSpPr txBox="1"/>
          <p:nvPr/>
        </p:nvSpPr>
        <p:spPr>
          <a:xfrm>
            <a:off x="713232" y="457200"/>
            <a:ext cx="493776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005E68"/>
                </a:solidFill>
                <a:latin typeface="Aptos"/>
              </a:defRPr>
            </a:pPr>
            <a:r>
              <a:rPr lang="en-US" dirty="0"/>
              <a:t>WORLD RIVERS DAY 2026</a:t>
            </a:r>
          </a:p>
        </p:txBody>
      </p:sp>
      <p:sp>
        <p:nvSpPr>
          <p:cNvPr id="5" name="Wave 4">
            <a:extLst>
              <a:ext uri="{FF2B5EF4-FFF2-40B4-BE49-F238E27FC236}">
                <a16:creationId xmlns:a16="http://schemas.microsoft.com/office/drawing/2014/main" id="{4BB58B67-6F5A-011A-B179-623D887552C9}"/>
              </a:ext>
            </a:extLst>
          </p:cNvPr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>
            <a:extLst>
              <a:ext uri="{FF2B5EF4-FFF2-40B4-BE49-F238E27FC236}">
                <a16:creationId xmlns:a16="http://schemas.microsoft.com/office/drawing/2014/main" id="{0F45DA00-891F-14C0-D33F-28164D7A2FE5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>
            <a:extLst>
              <a:ext uri="{FF2B5EF4-FFF2-40B4-BE49-F238E27FC236}">
                <a16:creationId xmlns:a16="http://schemas.microsoft.com/office/drawing/2014/main" id="{C4499BA6-949C-FAD9-6270-41767DE70EBE}"/>
              </a:ext>
            </a:extLst>
          </p:cNvPr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quantum_water_lab_v4_new_MOF_animation">
            <a:hlinkClick r:id="" action="ppaction://media"/>
            <a:extLst>
              <a:ext uri="{FF2B5EF4-FFF2-40B4-BE49-F238E27FC236}">
                <a16:creationId xmlns:a16="http://schemas.microsoft.com/office/drawing/2014/main" id="{58900653-F458-E538-656D-D6D0B54B21E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670214"/>
            <a:ext cx="12192000" cy="618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2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DC1A-DEB7-2A5E-CD0E-37EB61C27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389569-1830-CEBD-841B-7A10A95A8CE8}"/>
              </a:ext>
            </a:extLst>
          </p:cNvPr>
          <p:cNvSpPr txBox="1"/>
          <p:nvPr/>
        </p:nvSpPr>
        <p:spPr>
          <a:xfrm>
            <a:off x="713232" y="457200"/>
            <a:ext cx="49377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005E68"/>
                </a:solidFill>
                <a:latin typeface="Aptos"/>
              </a:defRPr>
            </a:pPr>
            <a:r>
              <a:t>WORLD WATER DAY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EBCED-A0B9-5CD8-F40B-7688D733A1CA}"/>
              </a:ext>
            </a:extLst>
          </p:cNvPr>
          <p:cNvSpPr txBox="1"/>
          <p:nvPr/>
        </p:nvSpPr>
        <p:spPr>
          <a:xfrm>
            <a:off x="966354" y="1350819"/>
            <a:ext cx="8503920" cy="343786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 our research at the MCP, we use materials like metal organic frameworks (MOF) for water purification.</a:t>
            </a:r>
          </a:p>
          <a:p>
            <a:br>
              <a:rPr lang="en-US" sz="1600" dirty="0"/>
            </a:br>
            <a:endParaRPr lang="en-US" sz="1600" dirty="0"/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These are very tiny nets/cubes with metal vertices and edges made of organic materials called linker.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Inside these cages, we anchor sulfur-containing sites.</a:t>
            </a:r>
            <a:br>
              <a:rPr lang="en-US" sz="1600" dirty="0"/>
            </a:br>
            <a:endParaRPr lang="en-US" sz="1600" dirty="0"/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Mercury acts as a quantum 'soft acid' and binds tightly to the sulfur 'soft base', creating an unbreakable chemical lock that permanently traps the mercury.</a:t>
            </a:r>
            <a:endParaRPr dirty="0"/>
          </a:p>
        </p:txBody>
      </p:sp>
      <p:sp>
        <p:nvSpPr>
          <p:cNvPr id="5" name="Wave 4">
            <a:extLst>
              <a:ext uri="{FF2B5EF4-FFF2-40B4-BE49-F238E27FC236}">
                <a16:creationId xmlns:a16="http://schemas.microsoft.com/office/drawing/2014/main" id="{68391330-B8ED-ADF2-74EA-438E2AF6D124}"/>
              </a:ext>
            </a:extLst>
          </p:cNvPr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Wave 5">
            <a:extLst>
              <a:ext uri="{FF2B5EF4-FFF2-40B4-BE49-F238E27FC236}">
                <a16:creationId xmlns:a16="http://schemas.microsoft.com/office/drawing/2014/main" id="{90191177-4864-464C-F40D-4562A9B3FC0C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>
            <a:extLst>
              <a:ext uri="{FF2B5EF4-FFF2-40B4-BE49-F238E27FC236}">
                <a16:creationId xmlns:a16="http://schemas.microsoft.com/office/drawing/2014/main" id="{999C54EA-B467-9280-F02D-02B988891DDE}"/>
              </a:ext>
            </a:extLst>
          </p:cNvPr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715310-2092-1B55-03DF-007C27BAD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97" y="0"/>
            <a:ext cx="12200197" cy="632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97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57200"/>
            <a:ext cx="49377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100" b="1">
                <a:solidFill>
                  <a:srgbClr val="005E68"/>
                </a:solidFill>
                <a:latin typeface="Aptos"/>
              </a:defRPr>
            </a:pPr>
            <a:r>
              <a:t>WORLD WATER DAY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3800" b="1">
                <a:solidFill>
                  <a:srgbClr val="004C3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000" b="0">
                <a:solidFill>
                  <a:srgbClr val="0074AA"/>
                </a:solidFill>
                <a:latin typeface="Aptos"/>
              </a:defRPr>
            </a:pPr>
            <a:r>
              <a:t>Clean Rivers • Sustainable Livelihoods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0">
                <a:solidFill>
                  <a:srgbClr val="547074"/>
                </a:solidFill>
                <a:latin typeface="Aptos"/>
              </a:defRPr>
            </a:pPr>
            <a:r>
              <a:t>Questions and Discussion</a:t>
            </a:r>
          </a:p>
        </p:txBody>
      </p:sp>
      <p:sp>
        <p:nvSpPr>
          <p:cNvPr id="6" name="Wave 5"/>
          <p:cNvSpPr/>
          <p:nvPr/>
        </p:nvSpPr>
        <p:spPr>
          <a:xfrm>
            <a:off x="0" y="6327648"/>
            <a:ext cx="12191695" cy="566928"/>
          </a:xfrm>
          <a:prstGeom prst="wave">
            <a:avLst/>
          </a:prstGeom>
          <a:solidFill>
            <a:srgbClr val="004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ave 6"/>
          <p:cNvSpPr/>
          <p:nvPr/>
        </p:nvSpPr>
        <p:spPr>
          <a:xfrm>
            <a:off x="0" y="6473952"/>
            <a:ext cx="12191695" cy="384048"/>
          </a:xfrm>
          <a:prstGeom prst="wave">
            <a:avLst/>
          </a:prstGeom>
          <a:solidFill>
            <a:srgbClr val="005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Wave 7"/>
          <p:cNvSpPr/>
          <p:nvPr/>
        </p:nvSpPr>
        <p:spPr>
          <a:xfrm>
            <a:off x="0" y="6245352"/>
            <a:ext cx="12191695" cy="109728"/>
          </a:xfrm>
          <a:prstGeom prst="wave">
            <a:avLst/>
          </a:prstGeom>
          <a:solidFill>
            <a:srgbClr val="6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443</Words>
  <Application>Microsoft Office PowerPoint</Application>
  <PresentationFormat>Widescreen</PresentationFormat>
  <Paragraphs>76</Paragraphs>
  <Slides>10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Augustine Awuley</cp:lastModifiedBy>
  <cp:revision>12</cp:revision>
  <dcterms:created xsi:type="dcterms:W3CDTF">2013-01-27T09:14:16Z</dcterms:created>
  <dcterms:modified xsi:type="dcterms:W3CDTF">2026-10-29T16:00:03Z</dcterms:modified>
  <cp:category/>
</cp:coreProperties>
</file>